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74" r:id="rId3"/>
    <p:sldId id="275" r:id="rId4"/>
    <p:sldId id="278" r:id="rId5"/>
    <p:sldId id="277" r:id="rId6"/>
    <p:sldId id="276" r:id="rId7"/>
    <p:sldId id="273" r:id="rId8"/>
    <p:sldId id="270" r:id="rId9"/>
    <p:sldId id="279" r:id="rId10"/>
    <p:sldId id="280" r:id="rId11"/>
    <p:sldId id="265" r:id="rId12"/>
    <p:sldId id="281"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0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18568D5-E198-27DD-C0E2-3597DE1A239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7D358F9-979F-2D6C-6081-7CD6BE3460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F859D4A-0491-67A7-FAF2-845C76C147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9944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01EB6A8-1823-2A26-EC64-7385F071B29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CCB86DE-CC29-422F-26B5-36879C3522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F7481E2-D672-38BC-D619-4E7BE4211C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5118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DD134BD-5B37-2E54-04A3-8AF23F15020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7A758A5-A645-F4D2-7736-068DE8DA3B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8B55957-FD57-7DCC-BC34-77ADADCD71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3540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4B71197-F37D-7E3B-B28C-A8E94B18029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EBD354C-577E-5CE0-CECF-351A0891A3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79A8892-80C4-48A4-D7BB-9A5596ED9D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0672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CD22550-327A-C9DA-6DA1-A165752B46C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01C3FF2-1B6E-0493-AE83-AA809441F1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2A0F07E0-8006-A9C6-5C81-30D2C4AE07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38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1187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3965EB9-9497-49C6-90AC-FC4EFFBF0D7B}"/>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F4C244E6-21CB-05F0-291A-BDF1661B0E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9F72BD0D-D573-4490-74D4-DBEB355646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9052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6839C5D-0B2F-F4D5-4475-9170E19344D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144B8DE5-BDB1-D4D9-1F91-ECB80EA471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E0705340-1A3C-D3F2-7702-CAD8E58AC1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1754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A518C31-296A-1C31-E5A6-ABDA4FB4D6F9}"/>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31A95AD8-A847-ADD2-2C24-94D560D270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535DBBDF-8735-3785-B38C-C850C59A88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7125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g8w2zq"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PSCS224 - </a:t>
            </a:r>
            <a:r>
              <a:rPr lang="en-US" dirty="0">
                <a:solidFill>
                  <a:schemeClr val="tx1"/>
                </a:solidFill>
                <a:latin typeface="Cambria" panose="02040503050406030204" pitchFamily="18" charset="0"/>
                <a:ea typeface="Cambria" panose="02040503050406030204" pitchFamily="18" charset="0"/>
              </a:rPr>
              <a:t>Customer Support Chatbot </a:t>
            </a:r>
            <a:br>
              <a:rPr lang="en-US" dirty="0">
                <a:solidFill>
                  <a:schemeClr val="tx1"/>
                </a:solidFill>
                <a:latin typeface="Cambria" panose="02040503050406030204" pitchFamily="18" charset="0"/>
                <a:ea typeface="Cambria" panose="02040503050406030204" pitchFamily="18" charset="0"/>
              </a:rPr>
            </a:br>
            <a:r>
              <a:rPr lang="en-US" dirty="0">
                <a:solidFill>
                  <a:schemeClr val="tx1"/>
                </a:solidFill>
                <a:latin typeface="Cambria" panose="02040503050406030204" pitchFamily="18" charset="0"/>
                <a:ea typeface="Cambria" panose="02040503050406030204" pitchFamily="18" charset="0"/>
              </a:rPr>
              <a:t>with ML</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1771537"/>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CST G-01</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88640959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096000" y="2214713"/>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Dr.</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Saravanan</a:t>
            </a:r>
            <a:endParaRPr lang="en-US" sz="2400" b="1"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US"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VIVA-VOSE</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53347" y="4667525"/>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Technology(AIML)</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solidFill>
                <a:latin typeface="Cambria" panose="02040503050406030204" pitchFamily="18" charset="0"/>
                <a:ea typeface="Cambria" panose="02040503050406030204" pitchFamily="18" charset="0"/>
                <a:cs typeface="Verdana"/>
                <a:sym typeface="Verdana"/>
              </a:rPr>
              <a:t>Dr. Saira Banu</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H M MANJULA</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a:t>
            </a:r>
            <a:r>
              <a:rPr lang="en-US" sz="20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Ziaur</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tx1"/>
                </a:solidFill>
                <a:latin typeface="Cambria" panose="02040503050406030204" pitchFamily="18" charset="0"/>
                <a:ea typeface="Cambria" panose="02040503050406030204" pitchFamily="18" charset="0"/>
                <a:cs typeface="Verdana"/>
                <a:sym typeface="Verdana"/>
              </a:rPr>
              <a:t>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97144BCA-40D0-6CD4-E084-4BCD22C4A4A1}"/>
              </a:ext>
            </a:extLst>
          </p:cNvPr>
          <p:cNvGraphicFramePr>
            <a:graphicFrameLocks noGrp="1"/>
          </p:cNvGraphicFramePr>
          <p:nvPr>
            <p:extLst>
              <p:ext uri="{D42A27DB-BD31-4B8C-83A1-F6EECF244321}">
                <p14:modId xmlns:p14="http://schemas.microsoft.com/office/powerpoint/2010/main" val="3456914754"/>
              </p:ext>
            </p:extLst>
          </p:nvPr>
        </p:nvGraphicFramePr>
        <p:xfrm>
          <a:off x="790469" y="3102797"/>
          <a:ext cx="4726753" cy="1536005"/>
        </p:xfrm>
        <a:graphic>
          <a:graphicData uri="http://schemas.openxmlformats.org/drawingml/2006/table">
            <a:tbl>
              <a:tblPr firstRow="1" bandRow="1"/>
              <a:tblGrid>
                <a:gridCol w="2372679">
                  <a:extLst>
                    <a:ext uri="{9D8B030D-6E8A-4147-A177-3AD203B41FA5}">
                      <a16:colId xmlns:a16="http://schemas.microsoft.com/office/drawing/2014/main" val="2074903326"/>
                    </a:ext>
                  </a:extLst>
                </a:gridCol>
                <a:gridCol w="2354074">
                  <a:extLst>
                    <a:ext uri="{9D8B030D-6E8A-4147-A177-3AD203B41FA5}">
                      <a16:colId xmlns:a16="http://schemas.microsoft.com/office/drawing/2014/main" val="1262500936"/>
                    </a:ext>
                  </a:extLst>
                </a:gridCol>
              </a:tblGrid>
              <a:tr h="276448">
                <a:tc>
                  <a:txBody>
                    <a:bodyPr/>
                    <a:lstStyle/>
                    <a:p>
                      <a:r>
                        <a:rPr lang="en-US" b="1" dirty="0">
                          <a:solidFill>
                            <a:schemeClr val="bg2"/>
                          </a:solidFill>
                        </a:rPr>
                        <a:t>20211CST0024</a:t>
                      </a:r>
                    </a:p>
                  </a:txBody>
                  <a:tcPr/>
                </a:tc>
                <a:tc>
                  <a:txBody>
                    <a:bodyPr/>
                    <a:lstStyle/>
                    <a:p>
                      <a:r>
                        <a:rPr lang="en-US" b="1" dirty="0">
                          <a:solidFill>
                            <a:schemeClr val="bg2"/>
                          </a:solidFill>
                        </a:rPr>
                        <a:t>Mohammed Rahim</a:t>
                      </a:r>
                    </a:p>
                  </a:txBody>
                  <a:tcPr/>
                </a:tc>
                <a:extLst>
                  <a:ext uri="{0D108BD9-81ED-4DB2-BD59-A6C34878D82A}">
                    <a16:rowId xmlns:a16="http://schemas.microsoft.com/office/drawing/2014/main" val="440276827"/>
                  </a:ext>
                </a:extLst>
              </a:tr>
              <a:tr h="27644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bg2"/>
                          </a:solidFill>
                        </a:rPr>
                        <a:t>20211CST0017</a:t>
                      </a:r>
                    </a:p>
                  </a:txBody>
                  <a:tcPr/>
                </a:tc>
                <a:tc>
                  <a:txBody>
                    <a:bodyPr/>
                    <a:lstStyle/>
                    <a:p>
                      <a:r>
                        <a:rPr lang="en-US" b="1" dirty="0" err="1">
                          <a:solidFill>
                            <a:schemeClr val="bg2"/>
                          </a:solidFill>
                        </a:rPr>
                        <a:t>Ronuru</a:t>
                      </a:r>
                      <a:r>
                        <a:rPr lang="en-US" b="1" dirty="0">
                          <a:solidFill>
                            <a:schemeClr val="bg2"/>
                          </a:solidFill>
                        </a:rPr>
                        <a:t> Mukesh</a:t>
                      </a:r>
                    </a:p>
                  </a:txBody>
                  <a:tcPr/>
                </a:tc>
                <a:extLst>
                  <a:ext uri="{0D108BD9-81ED-4DB2-BD59-A6C34878D82A}">
                    <a16:rowId xmlns:a16="http://schemas.microsoft.com/office/drawing/2014/main" val="3368698523"/>
                  </a:ext>
                </a:extLst>
              </a:tr>
              <a:tr h="46996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bg2"/>
                          </a:solidFill>
                        </a:rPr>
                        <a:t>20211CST0005</a:t>
                      </a:r>
                    </a:p>
                  </a:txBody>
                  <a:tcPr/>
                </a:tc>
                <a:tc>
                  <a:txBody>
                    <a:bodyPr/>
                    <a:lstStyle/>
                    <a:p>
                      <a:r>
                        <a:rPr lang="en-US" b="1" dirty="0" err="1">
                          <a:solidFill>
                            <a:schemeClr val="bg2"/>
                          </a:solidFill>
                        </a:rPr>
                        <a:t>Saribala</a:t>
                      </a:r>
                      <a:r>
                        <a:rPr lang="en-US" b="1" dirty="0">
                          <a:solidFill>
                            <a:schemeClr val="bg2"/>
                          </a:solidFill>
                        </a:rPr>
                        <a:t> Vinay Kumar Reddy</a:t>
                      </a:r>
                    </a:p>
                  </a:txBody>
                  <a:tcPr/>
                </a:tc>
                <a:extLst>
                  <a:ext uri="{0D108BD9-81ED-4DB2-BD59-A6C34878D82A}">
                    <a16:rowId xmlns:a16="http://schemas.microsoft.com/office/drawing/2014/main" val="2162019980"/>
                  </a:ext>
                </a:extLst>
              </a:tr>
              <a:tr h="40824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solidFill>
                            <a:schemeClr val="bg2"/>
                          </a:solidFill>
                        </a:rPr>
                        <a:t>20211CST0016</a:t>
                      </a:r>
                    </a:p>
                  </a:txBody>
                  <a:tcPr/>
                </a:tc>
                <a:tc>
                  <a:txBody>
                    <a:bodyPr/>
                    <a:lstStyle/>
                    <a:p>
                      <a:r>
                        <a:rPr lang="en-US" b="1" dirty="0" err="1">
                          <a:solidFill>
                            <a:schemeClr val="bg2"/>
                          </a:solidFill>
                        </a:rPr>
                        <a:t>Rampalli</a:t>
                      </a:r>
                      <a:r>
                        <a:rPr lang="en-US" b="1" dirty="0">
                          <a:solidFill>
                            <a:schemeClr val="bg2"/>
                          </a:solidFill>
                        </a:rPr>
                        <a:t> Jagan Mohan</a:t>
                      </a:r>
                    </a:p>
                  </a:txBody>
                  <a:tcPr/>
                </a:tc>
                <a:extLst>
                  <a:ext uri="{0D108BD9-81ED-4DB2-BD59-A6C34878D82A}">
                    <a16:rowId xmlns:a16="http://schemas.microsoft.com/office/drawing/2014/main" val="1069418185"/>
                  </a:ext>
                </a:extLst>
              </a:tr>
            </a:tbl>
          </a:graphicData>
        </a:graphic>
      </p:graphicFrame>
      <p:graphicFrame>
        <p:nvGraphicFramePr>
          <p:cNvPr id="3" name="Table 2">
            <a:extLst>
              <a:ext uri="{FF2B5EF4-FFF2-40B4-BE49-F238E27FC236}">
                <a16:creationId xmlns:a16="http://schemas.microsoft.com/office/drawing/2014/main" id="{AABFA1F6-778F-5BFA-AE36-E696FCC565F2}"/>
              </a:ext>
            </a:extLst>
          </p:cNvPr>
          <p:cNvGraphicFramePr>
            <a:graphicFrameLocks noGrp="1"/>
          </p:cNvGraphicFramePr>
          <p:nvPr>
            <p:extLst>
              <p:ext uri="{D42A27DB-BD31-4B8C-83A1-F6EECF244321}">
                <p14:modId xmlns:p14="http://schemas.microsoft.com/office/powerpoint/2010/main" val="189136683"/>
              </p:ext>
            </p:extLst>
          </p:nvPr>
        </p:nvGraphicFramePr>
        <p:xfrm>
          <a:off x="790469" y="2716270"/>
          <a:ext cx="4745358" cy="370840"/>
        </p:xfrm>
        <a:graphic>
          <a:graphicData uri="http://schemas.openxmlformats.org/drawingml/2006/table">
            <a:tbl>
              <a:tblPr firstRow="1" bandRow="1"/>
              <a:tblGrid>
                <a:gridCol w="2372679">
                  <a:extLst>
                    <a:ext uri="{9D8B030D-6E8A-4147-A177-3AD203B41FA5}">
                      <a16:colId xmlns:a16="http://schemas.microsoft.com/office/drawing/2014/main" val="3606880336"/>
                    </a:ext>
                  </a:extLst>
                </a:gridCol>
                <a:gridCol w="2372679">
                  <a:extLst>
                    <a:ext uri="{9D8B030D-6E8A-4147-A177-3AD203B41FA5}">
                      <a16:colId xmlns:a16="http://schemas.microsoft.com/office/drawing/2014/main" val="3806929150"/>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2894049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150E94D-0E3D-898A-398B-DC9AC773B7C7}"/>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BAD49786-73D0-1D61-0678-D92EE0923BA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Introduction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ED45EE00-CF46-E742-CEE1-DE0A1F83FAC1}"/>
              </a:ext>
            </a:extLst>
          </p:cNvPr>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Autofit/>
          </a:bodyPr>
          <a:lstStyle/>
          <a:p>
            <a:pPr marL="152400" indent="0">
              <a:lnSpc>
                <a:spcPct val="200000"/>
              </a:lnSpc>
              <a:spcBef>
                <a:spcPts val="0"/>
              </a:spcBef>
              <a:buNone/>
            </a:pPr>
            <a:r>
              <a:rPr lang="en-US" sz="1800" dirty="0">
                <a:effectLst/>
                <a:latin typeface="Cambria" panose="02040503050406030204" pitchFamily="18" charset="0"/>
                <a:ea typeface="Cambria" panose="02040503050406030204" pitchFamily="18" charset="0"/>
              </a:rPr>
              <a:t>In today’s digital world, customer service plays an important role in defining a business's success. With increasing customer expectations for prompt and effective assistance, organizations are under pressure to deliver seamless support experiences. The ability to provide quick, efficient, and personalized customer service has become a critical differentiator for businesses striving to maintain a competitive edge.</a:t>
            </a:r>
          </a:p>
          <a:p>
            <a:pPr marL="152400" lvl="0" indent="0" rtl="0">
              <a:lnSpc>
                <a:spcPct val="200000"/>
              </a:lnSpc>
              <a:spcBef>
                <a:spcPts val="0"/>
              </a:spcBef>
              <a:spcAft>
                <a:spcPts val="0"/>
              </a:spcAft>
              <a:buClr>
                <a:schemeClr val="dk1"/>
              </a:buClr>
              <a:buSzPts val="2400"/>
              <a:buNone/>
            </a:pPr>
            <a:r>
              <a:rPr lang="en-US" sz="1800" dirty="0">
                <a:effectLst/>
                <a:latin typeface="Cambria" panose="02040503050406030204" pitchFamily="18" charset="0"/>
                <a:ea typeface="Cambria" panose="02040503050406030204" pitchFamily="18" charset="0"/>
              </a:rPr>
              <a:t> This project focuses on developing an intelligent customer support chatbot leveraging machine learning (ML) and natural language processing (NLP). The chatbot is designed to understand user queries, classify intents, and provide accurate, context-aware responses. By incorporating ML models and NLP techniques, the proposed solution aims to enhance user engagement, reduce operational costs, and streamline customer support processes.</a:t>
            </a: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44667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A39CA1B0-14BA-6544-62DE-EA95FC05C729}"/>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EB1CD2E-3AAC-6569-1C44-CF377EBEBA8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sz="2400" b="1" dirty="0">
                <a:effectLst/>
                <a:latin typeface="Cambria" panose="02040503050406030204" pitchFamily="18" charset="0"/>
                <a:ea typeface="Cambria" panose="02040503050406030204" pitchFamily="18" charset="0"/>
              </a:rPr>
              <a:t>LITERATURE SURVEY</a:t>
            </a:r>
            <a:endParaRPr lang="en-GB" sz="3600"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4216EEB9-6F25-1085-F24D-80AE82852B26}"/>
              </a:ext>
            </a:extLst>
          </p:cNvPr>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Autofit/>
          </a:bodyPr>
          <a:lstStyle/>
          <a:p>
            <a:pPr marL="152400" indent="0">
              <a:lnSpc>
                <a:spcPct val="200000"/>
              </a:lnSpc>
              <a:spcBef>
                <a:spcPts val="0"/>
              </a:spcBef>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1.Brownlee, J. (2021). What is Natural Language Processing? A gentle introduction to NLP. Machine Learning Mastery: </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Brownlee’s work provides a foundational understanding of Natural Language Processing (NLP), essential for developing a customer support chatbot. The article introduces key concepts such as tokenization, stemming, lemmatization, and sentiment analysis. It explains how NLP enables machines to interpret, process, and generate human language, forming the basis for conversational AI</a:t>
            </a:r>
          </a:p>
          <a:p>
            <a:pPr marL="76200" indent="0" algn="just">
              <a:lnSpc>
                <a:spcPct val="150000"/>
              </a:lnSpc>
              <a:buNone/>
              <a:tabLst>
                <a:tab pos="619125" algn="l"/>
              </a:tabLs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2.Devlin, J., Chang, M.-W., Lee, K., &amp; Toutanova, K. (2019). BERT: Pre-training of deep bidirectional transformers for language understanding. Proceedings of NAACL-HLT.</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6200" indent="0" algn="just">
              <a:lnSpc>
                <a:spcPct val="150000"/>
              </a:lnSpc>
              <a:buNone/>
              <a:tabLst>
                <a:tab pos="619125" algn="l"/>
              </a:tabLs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The BERT (Bidirectional Encoder Representations from Transformers) model represents a groundbreaking development in NLP, significantly enhancing conversational AI capabilities. Devlin et al. describe BERT’s unique ability to process language bidirectionally, capturing context from both preceding and succeeding words in a sentence. This enables a deeper understanding of nuanced queries, making it ideal for customer support chatbots. The paper details the pre-training and fine-tuning stages of BERT, highlighting its adaptability across diverse NLP tasks. By utilizing BERT, chatbots can deliver more accurate and context-aware responses, improving user satisfaction and support efficiency.</a:t>
            </a:r>
          </a:p>
          <a:p>
            <a:pPr marL="152400" indent="0">
              <a:lnSpc>
                <a:spcPct val="200000"/>
              </a:lnSpc>
              <a:spcBef>
                <a:spcPts val="0"/>
              </a:spcBef>
              <a:buNone/>
            </a:pP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52400" indent="0">
              <a:lnSpc>
                <a:spcPct val="200000"/>
              </a:lnSpc>
              <a:spcBef>
                <a:spcPts val="0"/>
              </a:spcBef>
              <a:buNone/>
            </a:pPr>
            <a:endParaRPr sz="14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912647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B389D53-0FD1-FE8F-E28E-B0AB99943D0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32087DC3-24CF-14F8-702B-61EC8A93A0CE}"/>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a:lnSpc>
                <a:spcPct val="150000"/>
              </a:lnSpc>
            </a:pPr>
            <a:r>
              <a:rPr lang="en-US" sz="2000" b="1" dirty="0">
                <a:effectLst/>
                <a:latin typeface="Times New Roman" panose="02020603050405020304" pitchFamily="18" charset="0"/>
                <a:ea typeface="Times New Roman" panose="02020603050405020304" pitchFamily="18" charset="0"/>
              </a:rPr>
              <a:t>RESEARCH GAPS OF EXISTING METHODS</a:t>
            </a:r>
            <a:endParaRPr lang="en-US" sz="2000" dirty="0">
              <a:effectLst/>
              <a:latin typeface="Times New Roman" panose="02020603050405020304" pitchFamily="18" charset="0"/>
              <a:ea typeface="Times New Roman" panose="02020603050405020304" pitchFamily="18" charset="0"/>
            </a:endParaRPr>
          </a:p>
        </p:txBody>
      </p:sp>
      <p:sp>
        <p:nvSpPr>
          <p:cNvPr id="97" name="Google Shape;97;p14">
            <a:extLst>
              <a:ext uri="{FF2B5EF4-FFF2-40B4-BE49-F238E27FC236}">
                <a16:creationId xmlns:a16="http://schemas.microsoft.com/office/drawing/2014/main" id="{C200C2E2-0819-D6DF-7617-3DBBF82CFE6A}"/>
              </a:ext>
            </a:extLst>
          </p:cNvPr>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Autofit/>
          </a:bodyPr>
          <a:lstStyle/>
          <a:p>
            <a:pPr marL="76200" indent="0" algn="just">
              <a:lnSpc>
                <a:spcPct val="150000"/>
              </a:lnSpc>
              <a:buNone/>
            </a:pPr>
            <a:r>
              <a:rPr lang="en-US" sz="1600" b="1" dirty="0">
                <a:effectLst/>
                <a:latin typeface="Times New Roman" panose="02020603050405020304" pitchFamily="18" charset="0"/>
                <a:ea typeface="Times New Roman" panose="02020603050405020304" pitchFamily="18" charset="0"/>
              </a:rPr>
              <a:t>Rule-Based Chatbots</a:t>
            </a:r>
            <a:endParaRPr lang="en-US" sz="1600" dirty="0">
              <a:effectLst/>
              <a:latin typeface="Times New Roman" panose="02020603050405020304" pitchFamily="18" charset="0"/>
              <a:ea typeface="Times New Roman" panose="02020603050405020304" pitchFamily="18" charset="0"/>
            </a:endParaRPr>
          </a:p>
          <a:p>
            <a:pPr marL="76200" indent="0">
              <a:buNone/>
            </a:pPr>
            <a:r>
              <a:rPr lang="en-US" sz="1600" dirty="0">
                <a:effectLst/>
                <a:latin typeface="Times New Roman" panose="02020603050405020304" pitchFamily="18" charset="0"/>
                <a:ea typeface="Times New Roman" panose="02020603050405020304" pitchFamily="18" charset="0"/>
              </a:rPr>
              <a:t>Rule-based chatbots were the first type of conversational agents used in customer support. These systems follow a static set of pre-programmed responses based on specific keywords or patterns in the user’s input.</a:t>
            </a:r>
          </a:p>
          <a:p>
            <a:pPr marL="76200" indent="0" algn="just">
              <a:lnSpc>
                <a:spcPct val="150000"/>
              </a:lnSpc>
              <a:buNone/>
            </a:pPr>
            <a:r>
              <a:rPr lang="en-US" sz="1600" b="1" dirty="0">
                <a:effectLst/>
                <a:latin typeface="Times New Roman" panose="02020603050405020304" pitchFamily="18" charset="0"/>
                <a:ea typeface="Times New Roman" panose="02020603050405020304" pitchFamily="18" charset="0"/>
              </a:rPr>
              <a:t>Retrieval-Based Models</a:t>
            </a:r>
            <a:endParaRPr lang="en-US" sz="1600" dirty="0">
              <a:effectLst/>
              <a:latin typeface="Times New Roman" panose="02020603050405020304" pitchFamily="18" charset="0"/>
              <a:ea typeface="Times New Roman" panose="02020603050405020304" pitchFamily="18" charset="0"/>
            </a:endParaRPr>
          </a:p>
          <a:p>
            <a:pPr marL="76200" indent="0" algn="just">
              <a:lnSpc>
                <a:spcPct val="150000"/>
              </a:lnSpc>
              <a:buNone/>
            </a:pPr>
            <a:r>
              <a:rPr lang="en-US" sz="1600" dirty="0">
                <a:effectLst/>
                <a:latin typeface="Times New Roman" panose="02020603050405020304" pitchFamily="18" charset="0"/>
                <a:ea typeface="Times New Roman" panose="02020603050405020304" pitchFamily="18" charset="0"/>
              </a:rPr>
              <a:t>Retrieval-based models represent a more sophisticated approach to customer support chatbots. These systems rely on a large dataset of potential responses and attempt to select the most relevant one based on the user’s query.</a:t>
            </a:r>
            <a:endParaRPr lang="en-US" sz="1600"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gn="just">
              <a:lnSpc>
                <a:spcPct val="150000"/>
              </a:lnSpc>
              <a:buNone/>
            </a:pPr>
            <a:r>
              <a:rPr lang="en-US" sz="1600" b="1" dirty="0">
                <a:effectLst/>
                <a:latin typeface="Times New Roman" panose="02020603050405020304" pitchFamily="18" charset="0"/>
                <a:ea typeface="Times New Roman" panose="02020603050405020304" pitchFamily="18" charset="0"/>
              </a:rPr>
              <a:t>Generative Models</a:t>
            </a:r>
            <a:endParaRPr lang="en-US" sz="1600" dirty="0">
              <a:effectLst/>
              <a:latin typeface="Times New Roman" panose="02020603050405020304" pitchFamily="18" charset="0"/>
              <a:ea typeface="Times New Roman" panose="02020603050405020304" pitchFamily="18" charset="0"/>
            </a:endParaRPr>
          </a:p>
          <a:p>
            <a:pPr marL="76200" indent="0" algn="just">
              <a:lnSpc>
                <a:spcPct val="150000"/>
              </a:lnSpc>
              <a:buNone/>
            </a:pPr>
            <a:r>
              <a:rPr lang="en-US" sz="1600" dirty="0">
                <a:effectLst/>
                <a:latin typeface="Times New Roman" panose="02020603050405020304" pitchFamily="18" charset="0"/>
                <a:ea typeface="Times New Roman" panose="02020603050405020304" pitchFamily="18" charset="0"/>
              </a:rPr>
              <a:t>Generative models, unlike retrieval-based systems, generate responses on the fly rather than pulling from a set of predefined responses. These models, which are based on deep learning architectures, such as Recurrent Neural Networks (RNNs), Long Short-Term Memory (LSTM) networks, and Transformers (e.g., GPT, BERT), are capable of producing text that is more dynamic and adaptable to a wide range of queries.</a:t>
            </a:r>
          </a:p>
          <a:p>
            <a:endParaRPr sz="12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065750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B7A01B84-4FE8-D6CD-75CE-595D8EA0AA1F}"/>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01C701D2-D599-2387-21EA-6DBA398D359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a:lnSpc>
                <a:spcPct val="150000"/>
              </a:lnSpc>
            </a:pPr>
            <a:r>
              <a:rPr lang="en-US" sz="2400" b="1" dirty="0">
                <a:effectLst/>
                <a:latin typeface="Times New Roman" panose="02020603050405020304" pitchFamily="18" charset="0"/>
                <a:ea typeface="Times New Roman" panose="02020603050405020304" pitchFamily="18" charset="0"/>
              </a:rPr>
              <a:t>PROPOSED MOTHODOLOGY</a:t>
            </a:r>
            <a:endParaRPr lang="en-US" sz="2400" dirty="0">
              <a:effectLst/>
              <a:latin typeface="Times New Roman" panose="02020603050405020304" pitchFamily="18" charset="0"/>
              <a:ea typeface="Times New Roman" panose="02020603050405020304" pitchFamily="18" charset="0"/>
            </a:endParaRPr>
          </a:p>
        </p:txBody>
      </p:sp>
      <p:sp>
        <p:nvSpPr>
          <p:cNvPr id="97" name="Google Shape;97;p14">
            <a:extLst>
              <a:ext uri="{FF2B5EF4-FFF2-40B4-BE49-F238E27FC236}">
                <a16:creationId xmlns:a16="http://schemas.microsoft.com/office/drawing/2014/main" id="{31B824C2-6F12-75A4-8760-13CD8D0FED1A}"/>
              </a:ext>
            </a:extLst>
          </p:cNvPr>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Autofit/>
          </a:bodyPr>
          <a:lstStyle/>
          <a:p>
            <a:pPr algn="just">
              <a:lnSpc>
                <a:spcPct val="150000"/>
              </a:lnSpc>
            </a:pPr>
            <a:r>
              <a:rPr lang="en-US" sz="1800" dirty="0">
                <a:effectLst/>
                <a:latin typeface="Times New Roman" panose="02020603050405020304" pitchFamily="18" charset="0"/>
                <a:ea typeface="Times New Roman" panose="02020603050405020304" pitchFamily="18" charset="0"/>
              </a:rPr>
              <a:t>The development of a customer support chatbot involves integrating advanced natural language processing (NLP) techniques and machine learning (ML) models to enhance user experience and provide efficient, automated responses. The methodology is divided into several systematic stages to ensure the chatbot meets the desired functionality and performance requirements.</a:t>
            </a:r>
          </a:p>
          <a:p>
            <a:r>
              <a:rPr lang="en-US" sz="1800" dirty="0">
                <a:effectLst/>
                <a:latin typeface="Times New Roman" panose="02020603050405020304" pitchFamily="18" charset="0"/>
                <a:ea typeface="Times New Roman" panose="02020603050405020304" pitchFamily="18" charset="0"/>
              </a:rPr>
              <a:t>The stages include data collection, preprocessing, model selection, chatbot architecture design, implementation, testing, and deployment</a:t>
            </a:r>
          </a:p>
          <a:p>
            <a:r>
              <a:rPr lang="en-US" sz="1400" b="1" dirty="0">
                <a:effectLst/>
                <a:latin typeface="Times New Roman" panose="02020603050405020304" pitchFamily="18" charset="0"/>
                <a:ea typeface="Times New Roman" panose="02020603050405020304" pitchFamily="18" charset="0"/>
              </a:rPr>
              <a:t>Problem Identification and Requirement Analysis</a:t>
            </a:r>
            <a:endParaRPr lang="en-US" sz="1400" b="1" dirty="0">
              <a:latin typeface="Times New Roman" panose="02020603050405020304" pitchFamily="18" charset="0"/>
              <a:ea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rPr>
              <a:t>Data Collection</a:t>
            </a:r>
          </a:p>
          <a:p>
            <a:r>
              <a:rPr lang="en-US" sz="1400" b="1" dirty="0">
                <a:effectLst/>
                <a:latin typeface="Times New Roman" panose="02020603050405020304" pitchFamily="18" charset="0"/>
                <a:ea typeface="Times New Roman" panose="02020603050405020304" pitchFamily="18" charset="0"/>
              </a:rPr>
              <a:t>Data Preprocessing</a:t>
            </a:r>
            <a:endParaRPr lang="en-US" sz="1400" b="1" dirty="0">
              <a:latin typeface="Times New Roman" panose="02020603050405020304" pitchFamily="18" charset="0"/>
              <a:ea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rPr>
              <a:t>Intent Recognition and Entity Extraction</a:t>
            </a:r>
          </a:p>
          <a:p>
            <a:r>
              <a:rPr lang="en-US" sz="1400" b="1" dirty="0">
                <a:effectLst/>
                <a:latin typeface="Times New Roman" panose="02020603050405020304" pitchFamily="18" charset="0"/>
                <a:ea typeface="Times New Roman" panose="02020603050405020304" pitchFamily="18" charset="0"/>
              </a:rPr>
              <a:t>Chatbot Architecture Design</a:t>
            </a:r>
            <a:endParaRPr lang="en-US" sz="1400" dirty="0">
              <a:effectLst/>
              <a:latin typeface="Times New Roman" panose="02020603050405020304" pitchFamily="18" charset="0"/>
              <a:ea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rPr>
              <a:t>Machine Learning Model Training</a:t>
            </a:r>
            <a:endParaRPr lang="en-US" sz="1400" dirty="0">
              <a:effectLst/>
              <a:latin typeface="Times New Roman" panose="02020603050405020304" pitchFamily="18" charset="0"/>
              <a:ea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rPr>
              <a:t>Chatbot Implementation</a:t>
            </a:r>
          </a:p>
          <a:p>
            <a:r>
              <a:rPr lang="en-US" sz="1400" b="1" dirty="0">
                <a:effectLst/>
                <a:latin typeface="Times New Roman" panose="02020603050405020304" pitchFamily="18" charset="0"/>
                <a:ea typeface="Times New Roman" panose="02020603050405020304" pitchFamily="18" charset="0"/>
              </a:rPr>
              <a:t>Testing and Validation</a:t>
            </a:r>
          </a:p>
          <a:p>
            <a:r>
              <a:rPr lang="en-US" sz="1400" b="1" dirty="0">
                <a:effectLst/>
                <a:latin typeface="Times New Roman" panose="02020603050405020304" pitchFamily="18" charset="0"/>
                <a:ea typeface="Times New Roman" panose="02020603050405020304" pitchFamily="18" charset="0"/>
              </a:rPr>
              <a:t>Deployment</a:t>
            </a:r>
            <a:endParaRPr lang="en-US" sz="1400" dirty="0">
              <a:effectLst/>
              <a:latin typeface="Times New Roman" panose="02020603050405020304" pitchFamily="18" charset="0"/>
              <a:ea typeface="Times New Roman" panose="02020603050405020304" pitchFamily="18" charset="0"/>
            </a:endParaRPr>
          </a:p>
          <a:p>
            <a:endParaRPr sz="14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183052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A87D7E4-0B73-31AB-D27B-D6902479D20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A11158BE-0C28-DDF7-3B4E-DDDF8A7AED8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US" b="1" dirty="0">
                <a:effectLst/>
                <a:latin typeface="Times New Roman" panose="02020603050405020304" pitchFamily="18" charset="0"/>
                <a:ea typeface="Times New Roman" panose="02020603050405020304" pitchFamily="18" charset="0"/>
              </a:rPr>
              <a:t>OBJECTIVES</a:t>
            </a:r>
            <a:endParaRPr lang="en-GB" sz="4800"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E7396149-031E-4DFD-8422-A790152E8FD0}"/>
              </a:ext>
            </a:extLst>
          </p:cNvPr>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Autofit/>
          </a:bodyPr>
          <a:lstStyle/>
          <a:p>
            <a:pPr marL="152400" indent="0">
              <a:lnSpc>
                <a:spcPct val="200000"/>
              </a:lnSpc>
              <a:spcBef>
                <a:spcPts val="0"/>
              </a:spcBef>
              <a:buNone/>
            </a:pPr>
            <a:r>
              <a:rPr lang="en-US" sz="1800" dirty="0">
                <a:effectLst/>
                <a:latin typeface="Times New Roman" panose="02020603050405020304" pitchFamily="18" charset="0"/>
                <a:ea typeface="Times New Roman" panose="02020603050405020304" pitchFamily="18" charset="0"/>
              </a:rPr>
              <a:t>The primary goal of this project is to design and develop a customer support chatbot powered by machine learning to streamline communication between customers and service providers. The specific objectives are outlined below:</a:t>
            </a:r>
          </a:p>
          <a:p>
            <a:pPr marL="438150" indent="-285750">
              <a:lnSpc>
                <a:spcPct val="200000"/>
              </a:lnSpc>
              <a:spcBef>
                <a:spcPts val="0"/>
              </a:spcBef>
            </a:pPr>
            <a:r>
              <a:rPr lang="en-US" sz="1800" b="1" dirty="0">
                <a:effectLst/>
                <a:latin typeface="Times New Roman" panose="02020603050405020304" pitchFamily="18" charset="0"/>
                <a:ea typeface="Times New Roman" panose="02020603050405020304" pitchFamily="18" charset="0"/>
              </a:rPr>
              <a:t>Automate Customer Support Processes</a:t>
            </a:r>
          </a:p>
          <a:p>
            <a:pPr marL="438150" indent="-285750">
              <a:lnSpc>
                <a:spcPct val="200000"/>
              </a:lnSpc>
              <a:spcBef>
                <a:spcPts val="0"/>
              </a:spcBef>
            </a:pPr>
            <a:r>
              <a:rPr lang="en-US" sz="1800" b="1" dirty="0">
                <a:effectLst/>
                <a:latin typeface="Times New Roman" panose="02020603050405020304" pitchFamily="18" charset="0"/>
                <a:ea typeface="Times New Roman" panose="02020603050405020304" pitchFamily="18" charset="0"/>
              </a:rPr>
              <a:t>Enhance User Experience</a:t>
            </a:r>
            <a:endParaRPr lang="en-US" sz="1800" dirty="0">
              <a:effectLst/>
              <a:latin typeface="Times New Roman" panose="02020603050405020304" pitchFamily="18" charset="0"/>
              <a:ea typeface="Times New Roman" panose="02020603050405020304" pitchFamily="18" charset="0"/>
            </a:endParaRPr>
          </a:p>
          <a:p>
            <a:pPr marL="438150" indent="-285750">
              <a:lnSpc>
                <a:spcPct val="200000"/>
              </a:lnSpc>
              <a:spcBef>
                <a:spcPts val="0"/>
              </a:spcBef>
            </a:pPr>
            <a:r>
              <a:rPr lang="en-US" sz="1800" b="1" dirty="0">
                <a:effectLst/>
                <a:latin typeface="Times New Roman" panose="02020603050405020304" pitchFamily="18" charset="0"/>
                <a:ea typeface="Times New Roman" panose="02020603050405020304" pitchFamily="18" charset="0"/>
              </a:rPr>
              <a:t>Implement Intent Recognition</a:t>
            </a:r>
            <a:endParaRPr lang="en-US" sz="1800" b="1" dirty="0">
              <a:latin typeface="Times New Roman" panose="02020603050405020304" pitchFamily="18" charset="0"/>
              <a:ea typeface="Times New Roman" panose="02020603050405020304" pitchFamily="18" charset="0"/>
            </a:endParaRPr>
          </a:p>
          <a:p>
            <a:pPr marL="438150" indent="-285750">
              <a:lnSpc>
                <a:spcPct val="200000"/>
              </a:lnSpc>
              <a:spcBef>
                <a:spcPts val="0"/>
              </a:spcBef>
            </a:pPr>
            <a:r>
              <a:rPr lang="en-US" sz="1800" b="1" dirty="0">
                <a:effectLst/>
                <a:latin typeface="Times New Roman" panose="02020603050405020304" pitchFamily="18" charset="0"/>
                <a:ea typeface="Times New Roman" panose="02020603050405020304" pitchFamily="18" charset="0"/>
              </a:rPr>
              <a:t>Enable Context-Aware Conversations</a:t>
            </a:r>
          </a:p>
          <a:p>
            <a:pPr marL="438150" indent="-285750">
              <a:lnSpc>
                <a:spcPct val="200000"/>
              </a:lnSpc>
              <a:spcBef>
                <a:spcPts val="0"/>
              </a:spcBef>
            </a:pPr>
            <a:r>
              <a:rPr lang="en-US" sz="1800" b="1" dirty="0">
                <a:effectLst/>
                <a:latin typeface="Times New Roman" panose="02020603050405020304" pitchFamily="18" charset="0"/>
                <a:ea typeface="Times New Roman" panose="02020603050405020304" pitchFamily="18" charset="0"/>
              </a:rPr>
              <a:t>Provide Personalized Interactions</a:t>
            </a:r>
            <a:endParaRPr lang="en-US" sz="1800" dirty="0">
              <a:effectLst/>
              <a:latin typeface="Times New Roman" panose="02020603050405020304" pitchFamily="18" charset="0"/>
              <a:ea typeface="Times New Roman" panose="02020603050405020304" pitchFamily="18" charset="0"/>
            </a:endParaRPr>
          </a:p>
          <a:p>
            <a:pPr marL="152400" indent="0">
              <a:lnSpc>
                <a:spcPct val="200000"/>
              </a:lnSpc>
              <a:spcBef>
                <a:spcPts val="0"/>
              </a:spcBef>
              <a:buNone/>
            </a:pPr>
            <a:endParaRPr sz="14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876931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sz="2400" b="1" dirty="0">
                <a:effectLst/>
                <a:latin typeface="Times New Roman" panose="02020603050405020304" pitchFamily="18" charset="0"/>
                <a:ea typeface="Times New Roman" panose="02020603050405020304" pitchFamily="18" charset="0"/>
              </a:rPr>
              <a:t>SYSTEM DESIGN &amp; IMPLEMENTATION</a:t>
            </a:r>
            <a:endParaRPr lang="en-US" sz="3600" dirty="0">
              <a:latin typeface="Cambria" panose="02040503050406030204" pitchFamily="18" charset="0"/>
              <a:ea typeface="Cambria" panose="02040503050406030204" pitchFamily="18" charset="0"/>
            </a:endParaRPr>
          </a:p>
        </p:txBody>
      </p:sp>
      <p:sp>
        <p:nvSpPr>
          <p:cNvPr id="5" name="Text Placeholder 4">
            <a:extLst>
              <a:ext uri="{FF2B5EF4-FFF2-40B4-BE49-F238E27FC236}">
                <a16:creationId xmlns:a16="http://schemas.microsoft.com/office/drawing/2014/main" id="{7A72866B-A4FA-CC7E-C99B-88E7A65B7F0D}"/>
              </a:ext>
            </a:extLst>
          </p:cNvPr>
          <p:cNvSpPr>
            <a:spLocks noGrp="1" noChangeArrowheads="1"/>
          </p:cNvSpPr>
          <p:nvPr>
            <p:ph type="body" idx="1"/>
          </p:nvPr>
        </p:nvSpPr>
        <p:spPr bwMode="auto">
          <a:xfrm>
            <a:off x="658687" y="312778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5FC5E829-07E7-945F-E410-647C36EE36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49" y="1465774"/>
            <a:ext cx="11010867" cy="4361448"/>
          </a:xfrm>
          <a:prstGeom prst="rect">
            <a:avLst/>
          </a:prstGeom>
        </p:spPr>
      </p:pic>
    </p:spTree>
    <p:extLst>
      <p:ext uri="{BB962C8B-B14F-4D97-AF65-F5344CB8AC3E}">
        <p14:creationId xmlns:p14="http://schemas.microsoft.com/office/powerpoint/2010/main" val="1755334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4" name="Title 13">
            <a:extLst>
              <a:ext uri="{FF2B5EF4-FFF2-40B4-BE49-F238E27FC236}">
                <a16:creationId xmlns:a16="http://schemas.microsoft.com/office/drawing/2014/main" id="{4C7F12A4-230A-C3D2-F77B-9409CC76F89C}"/>
              </a:ext>
            </a:extLst>
          </p:cNvPr>
          <p:cNvSpPr>
            <a:spLocks noGrp="1"/>
          </p:cNvSpPr>
          <p:nvPr>
            <p:ph type="title"/>
          </p:nvPr>
        </p:nvSpPr>
        <p:spPr/>
        <p:txBody>
          <a:bodyPr/>
          <a:lstStyle/>
          <a:p>
            <a:r>
              <a:rPr lang="en-US" dirty="0"/>
              <a:t>PROJECT TIME LINE</a:t>
            </a:r>
          </a:p>
        </p:txBody>
      </p:sp>
      <p:pic>
        <p:nvPicPr>
          <p:cNvPr id="2" name="Picture 1">
            <a:extLst>
              <a:ext uri="{FF2B5EF4-FFF2-40B4-BE49-F238E27FC236}">
                <a16:creationId xmlns:a16="http://schemas.microsoft.com/office/drawing/2014/main" id="{520F60A9-5852-B44D-52C8-C5ABFFF95B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2793" y="1517431"/>
            <a:ext cx="7843058" cy="459366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32805EEC-CF51-A07B-FC70-1AA8D7A2D26B}"/>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12EE92D0-E897-1BCF-9C5A-700FD2FD18C2}"/>
              </a:ext>
            </a:extLst>
          </p:cNvPr>
          <p:cNvSpPr>
            <a:spLocks noGrp="1"/>
          </p:cNvSpPr>
          <p:nvPr>
            <p:ph type="title"/>
          </p:nvPr>
        </p:nvSpPr>
        <p:spPr/>
        <p:txBody>
          <a:bodyPr/>
          <a:lstStyle/>
          <a:p>
            <a:r>
              <a:rPr lang="en-US" sz="2400" b="1" dirty="0">
                <a:effectLst/>
                <a:latin typeface="Times New Roman" panose="02020603050405020304" pitchFamily="18" charset="0"/>
                <a:ea typeface="Times New Roman" panose="02020603050405020304" pitchFamily="18" charset="0"/>
              </a:rPr>
              <a:t>OUTCOMES</a:t>
            </a:r>
            <a:endParaRPr lang="en-US" sz="3600" dirty="0"/>
          </a:p>
        </p:txBody>
      </p:sp>
      <p:sp>
        <p:nvSpPr>
          <p:cNvPr id="4" name="TextBox 3">
            <a:extLst>
              <a:ext uri="{FF2B5EF4-FFF2-40B4-BE49-F238E27FC236}">
                <a16:creationId xmlns:a16="http://schemas.microsoft.com/office/drawing/2014/main" id="{236417E0-2E57-918F-2983-696345689566}"/>
              </a:ext>
            </a:extLst>
          </p:cNvPr>
          <p:cNvSpPr txBox="1"/>
          <p:nvPr/>
        </p:nvSpPr>
        <p:spPr>
          <a:xfrm>
            <a:off x="812799" y="1428408"/>
            <a:ext cx="9137535" cy="3782061"/>
          </a:xfrm>
          <a:prstGeom prst="rect">
            <a:avLst/>
          </a:prstGeom>
          <a:noFill/>
        </p:spPr>
        <p:txBody>
          <a:bodyPr wrap="square">
            <a:spAutoFit/>
          </a:bodyPr>
          <a:lstStyle/>
          <a:p>
            <a:pPr marL="342900" lvl="0" indent="-342900" algn="just">
              <a:lnSpc>
                <a:spcPct val="150000"/>
              </a:lnSpc>
              <a:buFont typeface="+mj-lt"/>
              <a:buAutoNum type="arabicPeriod"/>
              <a:tabLst>
                <a:tab pos="400050" algn="l"/>
                <a:tab pos="457200" algn="l"/>
              </a:tabLst>
            </a:pPr>
            <a:r>
              <a:rPr lang="en-US" sz="1800" b="1" dirty="0">
                <a:effectLst/>
                <a:latin typeface="Times New Roman" panose="02020603050405020304" pitchFamily="18" charset="0"/>
                <a:ea typeface="Times New Roman" panose="02020603050405020304" pitchFamily="18" charset="0"/>
              </a:rPr>
              <a:t>Automated Query Resolution</a:t>
            </a:r>
          </a:p>
          <a:p>
            <a:pPr marL="342900" indent="-342900" algn="just">
              <a:lnSpc>
                <a:spcPct val="150000"/>
              </a:lnSpc>
              <a:buFont typeface="+mj-lt"/>
              <a:buAutoNum type="arabicPeriod"/>
              <a:tabLst>
                <a:tab pos="400050" algn="l"/>
                <a:tab pos="457200" algn="l"/>
              </a:tabLst>
            </a:pPr>
            <a:r>
              <a:rPr lang="en-US" sz="1800" b="1" dirty="0">
                <a:effectLst/>
                <a:latin typeface="Times New Roman" panose="02020603050405020304" pitchFamily="18" charset="0"/>
                <a:ea typeface="Times New Roman" panose="02020603050405020304" pitchFamily="18" charset="0"/>
              </a:rPr>
              <a:t>Enhanced Customer Satisfaction</a:t>
            </a:r>
            <a:endParaRPr lang="en-US" sz="1800" dirty="0">
              <a:effectLst/>
              <a:latin typeface="Times New Roman" panose="02020603050405020304" pitchFamily="18" charset="0"/>
              <a:ea typeface="Times New Roman" panose="02020603050405020304" pitchFamily="18" charset="0"/>
            </a:endParaRPr>
          </a:p>
          <a:p>
            <a:pPr marL="342900" indent="-342900" algn="just">
              <a:lnSpc>
                <a:spcPct val="150000"/>
              </a:lnSpc>
              <a:buFont typeface="+mj-lt"/>
              <a:buAutoNum type="arabicPeriod"/>
              <a:tabLst>
                <a:tab pos="400050" algn="l"/>
                <a:tab pos="457200" algn="l"/>
              </a:tabLst>
            </a:pPr>
            <a:r>
              <a:rPr lang="en-US" sz="1800" b="1" dirty="0">
                <a:effectLst/>
                <a:latin typeface="Times New Roman" panose="02020603050405020304" pitchFamily="18" charset="0"/>
                <a:ea typeface="Times New Roman" panose="02020603050405020304" pitchFamily="18" charset="0"/>
              </a:rPr>
              <a:t>Cost-Effective Solution</a:t>
            </a:r>
            <a:endParaRPr lang="en-US" sz="1800" dirty="0">
              <a:effectLst/>
              <a:latin typeface="Times New Roman" panose="02020603050405020304" pitchFamily="18" charset="0"/>
              <a:ea typeface="Times New Roman" panose="02020603050405020304" pitchFamily="18" charset="0"/>
            </a:endParaRPr>
          </a:p>
          <a:p>
            <a:pPr marL="342900" indent="-342900" algn="just">
              <a:lnSpc>
                <a:spcPct val="150000"/>
              </a:lnSpc>
              <a:buFont typeface="+mj-lt"/>
              <a:buAutoNum type="arabicPeriod"/>
              <a:tabLst>
                <a:tab pos="400050" algn="l"/>
                <a:tab pos="457200" algn="l"/>
              </a:tabLst>
            </a:pPr>
            <a:r>
              <a:rPr lang="en-US" sz="1800" b="1" dirty="0">
                <a:effectLst/>
                <a:latin typeface="Times New Roman" panose="02020603050405020304" pitchFamily="18" charset="0"/>
                <a:ea typeface="Times New Roman" panose="02020603050405020304" pitchFamily="18" charset="0"/>
              </a:rPr>
              <a:t>Insights Through Data Analysis</a:t>
            </a:r>
            <a:endParaRPr lang="en-US" sz="1800" dirty="0">
              <a:effectLst/>
              <a:latin typeface="Times New Roman" panose="02020603050405020304" pitchFamily="18" charset="0"/>
              <a:ea typeface="Times New Roman" panose="02020603050405020304" pitchFamily="18" charset="0"/>
            </a:endParaRPr>
          </a:p>
          <a:p>
            <a:pPr marL="342900" indent="-342900" algn="just">
              <a:lnSpc>
                <a:spcPct val="150000"/>
              </a:lnSpc>
              <a:buFont typeface="+mj-lt"/>
              <a:buAutoNum type="arabicPeriod"/>
              <a:tabLst>
                <a:tab pos="400050" algn="l"/>
                <a:tab pos="457200" algn="l"/>
              </a:tabLst>
            </a:pPr>
            <a:r>
              <a:rPr lang="en-US" sz="1800" b="1" dirty="0">
                <a:effectLst/>
                <a:latin typeface="Times New Roman" panose="02020603050405020304" pitchFamily="18" charset="0"/>
                <a:ea typeface="Times New Roman" panose="02020603050405020304" pitchFamily="18" charset="0"/>
              </a:rPr>
              <a:t>Scalability</a:t>
            </a:r>
            <a:endParaRPr lang="en-US" sz="1800" b="1" dirty="0">
              <a:latin typeface="Times New Roman" panose="02020603050405020304" pitchFamily="18" charset="0"/>
              <a:ea typeface="Times New Roman" panose="02020603050405020304" pitchFamily="18" charset="0"/>
            </a:endParaRPr>
          </a:p>
          <a:p>
            <a:pPr marL="342900" indent="-342900" algn="just">
              <a:lnSpc>
                <a:spcPct val="150000"/>
              </a:lnSpc>
              <a:buFont typeface="+mj-lt"/>
              <a:buAutoNum type="arabicPeriod"/>
              <a:tabLst>
                <a:tab pos="400050" algn="l"/>
                <a:tab pos="457200" algn="l"/>
              </a:tabLst>
            </a:pPr>
            <a:r>
              <a:rPr lang="en-US" sz="1800" b="1" dirty="0">
                <a:effectLst/>
                <a:latin typeface="Times New Roman" panose="02020603050405020304" pitchFamily="18" charset="0"/>
                <a:ea typeface="Times New Roman" panose="02020603050405020304" pitchFamily="18" charset="0"/>
              </a:rPr>
              <a:t>Learning and Continuous Improvement</a:t>
            </a:r>
            <a:endParaRPr lang="en-US" sz="1800" dirty="0">
              <a:effectLst/>
              <a:latin typeface="Times New Roman" panose="02020603050405020304" pitchFamily="18" charset="0"/>
              <a:ea typeface="Times New Roman" panose="02020603050405020304" pitchFamily="18" charset="0"/>
            </a:endParaRPr>
          </a:p>
          <a:p>
            <a:pPr marL="342900" indent="-342900" algn="just">
              <a:lnSpc>
                <a:spcPct val="150000"/>
              </a:lnSpc>
              <a:buFont typeface="+mj-lt"/>
              <a:buAutoNum type="arabicPeriod"/>
              <a:tabLst>
                <a:tab pos="400050" algn="l"/>
                <a:tab pos="457200" algn="l"/>
              </a:tabLst>
            </a:pPr>
            <a:r>
              <a:rPr lang="en-US" sz="1800" b="1" dirty="0">
                <a:effectLst/>
                <a:latin typeface="Times New Roman" panose="02020603050405020304" pitchFamily="18" charset="0"/>
                <a:ea typeface="Times New Roman" panose="02020603050405020304" pitchFamily="18" charset="0"/>
              </a:rPr>
              <a:t>Error Reduction</a:t>
            </a:r>
            <a:endParaRPr lang="en-US" sz="1800" dirty="0">
              <a:effectLst/>
              <a:latin typeface="Times New Roman" panose="02020603050405020304" pitchFamily="18" charset="0"/>
              <a:ea typeface="Times New Roman" panose="02020603050405020304" pitchFamily="18" charset="0"/>
            </a:endParaRPr>
          </a:p>
          <a:p>
            <a:pPr marL="342900" indent="-342900" algn="just">
              <a:lnSpc>
                <a:spcPct val="150000"/>
              </a:lnSpc>
              <a:buFont typeface="+mj-lt"/>
              <a:buAutoNum type="arabicPeriod"/>
              <a:tabLst>
                <a:tab pos="400050" algn="l"/>
                <a:tab pos="457200" algn="l"/>
              </a:tabLst>
            </a:pPr>
            <a:r>
              <a:rPr lang="en-US" sz="1800" b="1" dirty="0">
                <a:effectLst/>
                <a:latin typeface="Times New Roman" panose="02020603050405020304" pitchFamily="18" charset="0"/>
                <a:ea typeface="Times New Roman" panose="02020603050405020304" pitchFamily="18" charset="0"/>
              </a:rPr>
              <a:t>Business Productivity Boost</a:t>
            </a:r>
            <a:endParaRPr lang="en-US"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tabLst>
                <a:tab pos="400050" algn="l"/>
                <a:tab pos="457200" algn="l"/>
              </a:tabLst>
            </a:pPr>
            <a:endParaRPr lang="en-US" sz="1800" b="1"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75794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4D463BB-4FA1-00B9-E7D9-D0936C174B85}"/>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97CB9D8C-0C85-D473-C052-26F2048C444C}"/>
              </a:ext>
            </a:extLst>
          </p:cNvPr>
          <p:cNvSpPr>
            <a:spLocks noGrp="1"/>
          </p:cNvSpPr>
          <p:nvPr>
            <p:ph type="title"/>
          </p:nvPr>
        </p:nvSpPr>
        <p:spPr/>
        <p:txBody>
          <a:bodyPr/>
          <a:lstStyle/>
          <a:p>
            <a:r>
              <a:rPr lang="en-US" sz="2400" b="1" dirty="0">
                <a:effectLst/>
                <a:latin typeface="Times New Roman" panose="02020603050405020304" pitchFamily="18" charset="0"/>
                <a:ea typeface="Times New Roman" panose="02020603050405020304" pitchFamily="18" charset="0"/>
              </a:rPr>
              <a:t>Conclusion</a:t>
            </a:r>
            <a:endParaRPr lang="en-US" sz="3600" dirty="0"/>
          </a:p>
        </p:txBody>
      </p:sp>
      <p:sp>
        <p:nvSpPr>
          <p:cNvPr id="4" name="TextBox 3">
            <a:extLst>
              <a:ext uri="{FF2B5EF4-FFF2-40B4-BE49-F238E27FC236}">
                <a16:creationId xmlns:a16="http://schemas.microsoft.com/office/drawing/2014/main" id="{2F10BB81-D528-6AAD-B1AF-5462F23CA893}"/>
              </a:ext>
            </a:extLst>
          </p:cNvPr>
          <p:cNvSpPr txBox="1"/>
          <p:nvPr/>
        </p:nvSpPr>
        <p:spPr>
          <a:xfrm>
            <a:off x="812799" y="1428408"/>
            <a:ext cx="9137535" cy="4770537"/>
          </a:xfrm>
          <a:prstGeom prst="rect">
            <a:avLst/>
          </a:prstGeom>
          <a:noFill/>
        </p:spPr>
        <p:txBody>
          <a:bodyPr wrap="square">
            <a:spAutoFit/>
          </a:bodyPr>
          <a:lstStyle/>
          <a:p>
            <a:pPr algn="just">
              <a:lnSpc>
                <a:spcPct val="150000"/>
              </a:lnSpc>
              <a:tabLst>
                <a:tab pos="619125" algn="l"/>
              </a:tabLst>
            </a:pPr>
            <a:r>
              <a:rPr lang="en-US" sz="1600" dirty="0">
                <a:effectLst/>
                <a:latin typeface="Times New Roman" panose="02020603050405020304" pitchFamily="18" charset="0"/>
                <a:ea typeface="Times New Roman" panose="02020603050405020304" pitchFamily="18" charset="0"/>
              </a:rPr>
              <a:t>The "Customer Support Chatbot with ML" project represents a significant step towards leveraging machine learning and AI technologies to enhance customer support in e-commerce platforms. This chatbot was designed to provide users with seamless interaction, offering quick and accurate responses to queries, thereby improving customer satisfaction and operational efficiency for businesses. </a:t>
            </a:r>
          </a:p>
          <a:p>
            <a:pPr algn="just"/>
            <a:br>
              <a:rPr lang="en-US" sz="1600" dirty="0">
                <a:effectLst/>
                <a:latin typeface="Times New Roman" panose="02020603050405020304" pitchFamily="18" charset="0"/>
                <a:ea typeface="Times New Roman" panose="02020603050405020304" pitchFamily="18" charset="0"/>
              </a:rPr>
            </a:br>
            <a:r>
              <a:rPr lang="en-US" sz="1600" dirty="0">
                <a:effectLst/>
                <a:latin typeface="Times New Roman" panose="02020603050405020304" pitchFamily="18" charset="0"/>
                <a:ea typeface="Times New Roman" panose="02020603050405020304" pitchFamily="18" charset="0"/>
              </a:rPr>
              <a:t>Throughout the development process, tools like </a:t>
            </a:r>
            <a:r>
              <a:rPr lang="en-US" sz="1600" dirty="0" err="1">
                <a:effectLst/>
                <a:latin typeface="Times New Roman" panose="02020603050405020304" pitchFamily="18" charset="0"/>
                <a:ea typeface="Times New Roman" panose="02020603050405020304" pitchFamily="18" charset="0"/>
              </a:rPr>
              <a:t>Dialogflow</a:t>
            </a:r>
            <a:r>
              <a:rPr lang="en-US" sz="1600" dirty="0">
                <a:effectLst/>
                <a:latin typeface="Times New Roman" panose="02020603050405020304" pitchFamily="18" charset="0"/>
                <a:ea typeface="Times New Roman" panose="02020603050405020304" pitchFamily="18" charset="0"/>
              </a:rPr>
              <a:t>, Flask, and Bootstrap were employed to achieve a functional and user-friendly chatbot. </a:t>
            </a:r>
            <a:r>
              <a:rPr lang="en-US" sz="1600" dirty="0" err="1">
                <a:effectLst/>
                <a:latin typeface="Times New Roman" panose="02020603050405020304" pitchFamily="18" charset="0"/>
                <a:ea typeface="Times New Roman" panose="02020603050405020304" pitchFamily="18" charset="0"/>
              </a:rPr>
              <a:t>Dialogflow's</a:t>
            </a:r>
            <a:r>
              <a:rPr lang="en-US" sz="1600" dirty="0">
                <a:effectLst/>
                <a:latin typeface="Times New Roman" panose="02020603050405020304" pitchFamily="18" charset="0"/>
                <a:ea typeface="Times New Roman" panose="02020603050405020304" pitchFamily="18" charset="0"/>
              </a:rPr>
              <a:t> robust natural language processing capabilities enabled the chatbot to understand and interpret  user queries effectively, while Rasa's integration allowed for custom machine learning models to enhance the chatbot's contextual understanding. Flask served as the backend framework for smooth API communication, and Bootstrap ensured an appealing user interface.</a:t>
            </a:r>
          </a:p>
          <a:p>
            <a:pPr algn="just"/>
            <a:br>
              <a:rPr lang="en-US" sz="1600" dirty="0">
                <a:effectLst/>
                <a:latin typeface="Times New Roman" panose="02020603050405020304" pitchFamily="18" charset="0"/>
                <a:ea typeface="Times New Roman" panose="02020603050405020304" pitchFamily="18" charset="0"/>
              </a:rPr>
            </a:br>
            <a:r>
              <a:rPr lang="en-US" sz="1600" dirty="0">
                <a:effectLst/>
                <a:latin typeface="Times New Roman" panose="02020603050405020304" pitchFamily="18" charset="0"/>
                <a:ea typeface="Times New Roman" panose="02020603050405020304" pitchFamily="18" charset="0"/>
              </a:rPr>
              <a:t>The chatbot successfully meets its objectives by providing real-time assistance, reducing the reliance on human agents for routine queries, and enabling scalability in customer support operations. Although the current version does not incorporate sentiment analysis, the chatbot demonstrates significant potential for future upgrades, such as emotion recognition, multilingual support, and integration with advanced analytics tools.</a:t>
            </a:r>
            <a:br>
              <a:rPr lang="en-US" sz="1600" dirty="0">
                <a:effectLst/>
                <a:latin typeface="Times New Roman" panose="02020603050405020304" pitchFamily="18" charset="0"/>
                <a:ea typeface="Times New Roman" panose="02020603050405020304" pitchFamily="18" charset="0"/>
              </a:rPr>
            </a:br>
            <a:endParaRPr lang="en-US" sz="1600" b="1"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16639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[1] Brownlee, J. (2021). What is Natural Language Processing? A gentle introduction to NLP. Machine Learning Mastery. Retrieved from https://machinelearningmastery.com/ </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[2] Devlin, J., Chang, M.-W., Lee, K., &amp; Toutanova, K. (2019). BERT: Pre-training of deep bidirectional transformers for language understanding. Proceedings of NAACL-HLT.</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[3] Goodfellow, I., Bengio, Y., &amp; Courville, A. (2016). Deep Learning. MIT Press.</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[4] Hugging Face. (2023). Transformers for conversational AI. Retrieved from https://huggingface.co/</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[5] IBM. (2022). The role of chatbots in customer service. IBM Watson Blog. Retrieved from https://www.ibm.com/blogs/watson/</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[6] Microsoft Azure. (2023). Azure Cognitive Services for chatbots. Retrieved from https://azure.microsoft.com/en-us/</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[7] OpenAI. (2023). Technical report on GPT advancements in natural language understanding. Retrieved from https://openai.com/research/</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[8] Pandey, V., &amp; Pandey, A. (2020). Role of AI and Machine Learning in customer service chatbots. International Journal of Research in Engineering and Technology, 9(3), 45-50.</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[9] Radziwill, N. M., &amp; Benton, M. C. (2017). Evaluating quality of chatbots and intelligent conversational agents. Journal of Quality Management, 25(2), 215-235.</a:t>
            </a:r>
          </a:p>
          <a:p>
            <a:pPr marL="76200" indent="0" algn="just">
              <a:lnSpc>
                <a:spcPct val="150000"/>
              </a:lnSpc>
              <a:buNone/>
            </a:pPr>
            <a:r>
              <a:rPr lang="en-US" sz="1200" dirty="0">
                <a:effectLst/>
                <a:latin typeface="Times New Roman" panose="02020603050405020304" pitchFamily="18" charset="0"/>
                <a:ea typeface="Times New Roman" panose="02020603050405020304" pitchFamily="18" charset="0"/>
              </a:rPr>
              <a:t>[10] Serban, I. V., </a:t>
            </a:r>
            <a:r>
              <a:rPr lang="en-US" sz="1200" dirty="0" err="1">
                <a:effectLst/>
                <a:latin typeface="Times New Roman" panose="02020603050405020304" pitchFamily="18" charset="0"/>
                <a:ea typeface="Times New Roman" panose="02020603050405020304" pitchFamily="18" charset="0"/>
              </a:rPr>
              <a:t>Sordoni</a:t>
            </a:r>
            <a:r>
              <a:rPr lang="en-US" sz="1200" dirty="0">
                <a:effectLst/>
                <a:latin typeface="Times New Roman" panose="02020603050405020304" pitchFamily="18" charset="0"/>
                <a:ea typeface="Times New Roman" panose="02020603050405020304" pitchFamily="18" charset="0"/>
              </a:rPr>
              <a:t>, A., Bengio, Y., Courville, A., &amp; Pineau, J. (2016). Building end-to-end dialogue systems using generative hierarchical neural network models. Proceedings of the AAAI Conference on Artificial Intelligence.</a:t>
            </a:r>
          </a:p>
          <a:p>
            <a:pPr marL="76200" indent="0">
              <a:buNone/>
            </a:pPr>
            <a:r>
              <a:rPr lang="en-US" sz="1200" dirty="0">
                <a:effectLst/>
                <a:latin typeface="Times New Roman" panose="02020603050405020304" pitchFamily="18" charset="0"/>
                <a:ea typeface="Times New Roman" panose="02020603050405020304" pitchFamily="18" charset="0"/>
              </a:rPr>
              <a:t>[11] Lei Cui., </a:t>
            </a:r>
            <a:r>
              <a:rPr lang="en-US" sz="1200" dirty="0" err="1">
                <a:effectLst/>
                <a:latin typeface="Times New Roman" panose="02020603050405020304" pitchFamily="18" charset="0"/>
                <a:ea typeface="Times New Roman" panose="02020603050405020304" pitchFamily="18" charset="0"/>
              </a:rPr>
              <a:t>Shaohan</a:t>
            </a:r>
            <a:r>
              <a:rPr lang="en-US" sz="1200" dirty="0">
                <a:effectLst/>
                <a:latin typeface="Times New Roman" panose="02020603050405020304" pitchFamily="18" charset="0"/>
                <a:ea typeface="Times New Roman" panose="02020603050405020304" pitchFamily="18" charset="0"/>
              </a:rPr>
              <a:t> Huang., </a:t>
            </a:r>
            <a:r>
              <a:rPr lang="en-US" sz="1200" dirty="0" err="1">
                <a:effectLst/>
                <a:latin typeface="Times New Roman" panose="02020603050405020304" pitchFamily="18" charset="0"/>
                <a:ea typeface="Times New Roman" panose="02020603050405020304" pitchFamily="18" charset="0"/>
              </a:rPr>
              <a:t>Furu</a:t>
            </a:r>
            <a:r>
              <a:rPr lang="en-US" sz="1200" dirty="0">
                <a:effectLst/>
                <a:latin typeface="Times New Roman" panose="02020603050405020304" pitchFamily="18" charset="0"/>
                <a:ea typeface="Times New Roman" panose="02020603050405020304" pitchFamily="18" charset="0"/>
              </a:rPr>
              <a:t> Wei., Chuanqi Tan., </a:t>
            </a:r>
            <a:r>
              <a:rPr lang="en-US" sz="1200" dirty="0" err="1">
                <a:effectLst/>
                <a:latin typeface="Times New Roman" panose="02020603050405020304" pitchFamily="18" charset="0"/>
                <a:ea typeface="Times New Roman" panose="02020603050405020304" pitchFamily="18" charset="0"/>
              </a:rPr>
              <a:t>Chaoqun</a:t>
            </a:r>
            <a:r>
              <a:rPr lang="en-US" sz="1200" dirty="0">
                <a:effectLst/>
                <a:latin typeface="Times New Roman" panose="02020603050405020304" pitchFamily="18" charset="0"/>
                <a:ea typeface="Times New Roman" panose="02020603050405020304" pitchFamily="18" charset="0"/>
              </a:rPr>
              <a:t> Duan., and Ming Zhou., </a:t>
            </a:r>
            <a:r>
              <a:rPr lang="en-US" sz="1200" dirty="0" err="1">
                <a:effectLst/>
                <a:latin typeface="Times New Roman" panose="02020603050405020304" pitchFamily="18" charset="0"/>
                <a:ea typeface="Times New Roman" panose="02020603050405020304" pitchFamily="18" charset="0"/>
              </a:rPr>
              <a:t>SuperAgent</a:t>
            </a:r>
            <a:r>
              <a:rPr lang="en-US" sz="1200" dirty="0">
                <a:effectLst/>
                <a:latin typeface="Times New Roman" panose="02020603050405020304" pitchFamily="18" charset="0"/>
                <a:ea typeface="Times New Roman" panose="02020603050405020304" pitchFamily="18" charset="0"/>
              </a:rPr>
              <a:t>: A Customer Service Chatbot for E-commerce Websites (2017), cited by 493</a:t>
            </a:r>
            <a:endParaRPr lang="en-US" sz="140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F21B5F1-B12D-B91E-AF6B-3650A926476F}"/>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399E53E0-DD7B-5F18-142D-315CD67D51EA}"/>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US" dirty="0">
                <a:latin typeface="Cambria" panose="02040503050406030204" pitchFamily="18" charset="0"/>
                <a:ea typeface="Cambria" panose="02040503050406030204" pitchFamily="18" charset="0"/>
              </a:rPr>
              <a:t>Publication Details</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55E387AD-E8CB-13BB-84D7-0102169CF570}"/>
              </a:ext>
            </a:extLst>
          </p:cNvPr>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76200" indent="0" algn="just">
              <a:lnSpc>
                <a:spcPct val="150000"/>
              </a:lnSpc>
              <a:buNone/>
            </a:pPr>
            <a:r>
              <a:rPr lang="en-US" b="1" dirty="0">
                <a:solidFill>
                  <a:schemeClr val="accent1"/>
                </a:solidFill>
                <a:latin typeface="Times New Roman" panose="02020603050405020304" pitchFamily="18" charset="0"/>
                <a:cs typeface="Times New Roman" panose="02020603050405020304" pitchFamily="18" charset="0"/>
              </a:rPr>
              <a:t>International Journal for Multidisciplinary Research (IJFMR)</a:t>
            </a:r>
          </a:p>
          <a:p>
            <a:pPr marL="76200" indent="0" algn="just">
              <a:lnSpc>
                <a:spcPct val="150000"/>
              </a:lnSpc>
              <a:buNone/>
            </a:pPr>
            <a:r>
              <a:rPr lang="en-US"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Link: </a:t>
            </a:r>
            <a:r>
              <a:rPr lang="en-US" b="0" i="0" u="none" strike="noStrike" dirty="0">
                <a:effectLst/>
                <a:latin typeface="Metrophobic"/>
                <a:hlinkClick r:id="rId3"/>
              </a:rPr>
              <a:t>https://doi.org/g8w2zq</a:t>
            </a:r>
            <a:endParaRPr lang="en-US"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530435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393</TotalTime>
  <Words>1418</Words>
  <Application>Microsoft Office PowerPoint</Application>
  <PresentationFormat>Widescreen</PresentationFormat>
  <Paragraphs>88</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Cambria</vt:lpstr>
      <vt:lpstr>Metrophobic</vt:lpstr>
      <vt:lpstr>Times New Roman</vt:lpstr>
      <vt:lpstr>Verdana</vt:lpstr>
      <vt:lpstr>Bioinformatics</vt:lpstr>
      <vt:lpstr>PSCS224 - Customer Support Chatbot  with ML</vt:lpstr>
      <vt:lpstr>Introduction</vt:lpstr>
      <vt:lpstr>LITERATURE SURVEY</vt:lpstr>
      <vt:lpstr>RESEARCH GAPS OF EXISTING METHODS</vt:lpstr>
      <vt:lpstr>PROPOSED MOTHODOLOGY</vt:lpstr>
      <vt:lpstr>OBJECTIVES</vt:lpstr>
      <vt:lpstr>SYSTEM DESIGN &amp; IMPLEMENTATION</vt:lpstr>
      <vt:lpstr>PROJECT TIME LINE</vt:lpstr>
      <vt:lpstr>OUTCOMES</vt:lpstr>
      <vt:lpstr>Conclusion</vt:lpstr>
      <vt:lpstr>References (IEEE Paper format)</vt:lpstr>
      <vt:lpstr>Publication Details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Mohammed Rahim</cp:lastModifiedBy>
  <cp:revision>39</cp:revision>
  <dcterms:modified xsi:type="dcterms:W3CDTF">2025-01-13T11:26:59Z</dcterms:modified>
</cp:coreProperties>
</file>